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E3E8C">
              <a:alpha val="60000"/>
            </a:srgbClr>
          </a:solidFill>
          <a:ln w="12700">
            <a:solidFill>
              <a:srgbClr val="2E3E8C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5C542">
              <a:alpha val="15000"/>
            </a:srgbClr>
          </a:solidFill>
          <a:ln w="12700">
            <a:solidFill>
              <a:srgbClr val="F5C54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SchoolOS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School ERP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Playhouse → Class XII  ·  CISCE Board  ·  Fully Modular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371600" cy="4572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60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2E3E8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Admissions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9260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2E3E8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2E3E8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2E3E8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29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Automation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3429000"/>
            <a:ext cx="2560320" cy="384048"/>
          </a:xfrm>
          <a:prstGeom prst="roundRect">
            <a:avLst>
              <a:gd name="adj" fmla="val 23810"/>
            </a:avLst>
          </a:prstGeom>
          <a:solidFill>
            <a:srgbClr val="2E3E8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429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modules. Pay only for what you use.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SchoolOS?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ground-up for Indian CISCE schools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320040"/>
            <a:ext cx="2834640" cy="1325880"/>
          </a:xfrm>
          <a:prstGeom prst="rect">
            <a:avLst/>
          </a:prstGeom>
          <a:solidFill>
            <a:srgbClr val="E8EFFE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08960" y="320040"/>
            <a:ext cx="54864" cy="13258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4297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Built for CISCE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79552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ISC/ICSE syllabus, CISCE grading, board exam workflows — no customisation needed.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320040"/>
            <a:ext cx="2834640" cy="1325880"/>
          </a:xfrm>
          <a:prstGeom prst="rect">
            <a:avLst/>
          </a:prstGeom>
          <a:solidFill>
            <a:srgbClr val="E8EFFE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320040"/>
            <a:ext cx="54864" cy="13258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297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🧩  Pick Your Modules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79552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what your school needs. Add more as you grow. No forced bundling.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0" y="1783080"/>
            <a:ext cx="2834640" cy="1325880"/>
          </a:xfrm>
          <a:prstGeom prst="rect">
            <a:avLst/>
          </a:prstGeom>
          <a:solidFill>
            <a:srgbClr val="E8EFFE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0" y="1783080"/>
            <a:ext cx="54864" cy="13258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892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Real AI, Not Buzzwords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225856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predicts at-risk students, auto-drafts lesson plans, flags fee defaulters early.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1783080"/>
            <a:ext cx="2834640" cy="1325880"/>
          </a:xfrm>
          <a:prstGeom prst="rect">
            <a:avLst/>
          </a:prstGeom>
          <a:solidFill>
            <a:srgbClr val="E8EFFE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783080"/>
            <a:ext cx="54864" cy="13258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892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Parent-First Design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25856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 tracking, attendance alerts, fee payment — all in one parent app.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08960" y="3246120"/>
            <a:ext cx="2834640" cy="1325880"/>
          </a:xfrm>
          <a:prstGeom prst="rect">
            <a:avLst/>
          </a:prstGeom>
          <a:solidFill>
            <a:srgbClr val="E8EFFE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3246120"/>
            <a:ext cx="54864" cy="13258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355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Secure &amp; Compliant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46120" y="372160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stored in India. Role-based access. Audit trail on every action.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3246120"/>
            <a:ext cx="2834640" cy="1325880"/>
          </a:xfrm>
          <a:prstGeom prst="rect">
            <a:avLst/>
          </a:prstGeom>
          <a:solidFill>
            <a:srgbClr val="E8EFFE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3246120"/>
            <a:ext cx="54864" cy="13258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355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Day-1 Ready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372160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team, data migration, staff training — included. Go live in 4 weeks.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Selector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fits your school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0" y="182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Pillars · 24 Modules · All Optional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685800"/>
            <a:ext cx="1874520" cy="169164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685800"/>
            <a:ext cx="1874520" cy="4114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74066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Academics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82112" y="1188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 available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82112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 slides 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74920" y="685800"/>
            <a:ext cx="1874520" cy="1691640"/>
          </a:xfrm>
          <a:prstGeom prst="rect">
            <a:avLst/>
          </a:prstGeom>
          <a:solidFill>
            <a:srgbClr val="E1F5E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74920" y="685800"/>
            <a:ext cx="18745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74066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🏫 Administration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48072" y="1188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 available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48072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 slides 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685800"/>
            <a:ext cx="1874520" cy="1691640"/>
          </a:xfrm>
          <a:prstGeom prst="rect">
            <a:avLst/>
          </a:prstGeom>
          <a:solidFill>
            <a:srgbClr val="E8EFFE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685800"/>
            <a:ext cx="1874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14032" y="74066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💳 Finance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14032" y="1188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modules available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14032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 slides 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08960" y="2606040"/>
            <a:ext cx="1874520" cy="169164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2606040"/>
            <a:ext cx="1874520" cy="4114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26609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People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82112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modules available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82112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 slides 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74920" y="2606040"/>
            <a:ext cx="1874520" cy="1691640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74920" y="2606040"/>
            <a:ext cx="1874520" cy="4114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8072" y="26609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Intelligence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48072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modules available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48072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 slides 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40880" y="2606040"/>
            <a:ext cx="1874520" cy="1691640"/>
          </a:xfrm>
          <a:prstGeom prst="rect">
            <a:avLst/>
          </a:prstGeom>
          <a:solidFill>
            <a:srgbClr val="FBEAF0"/>
          </a:solidFill>
          <a:ln w="12700">
            <a:solidFill>
              <a:srgbClr val="9935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40880" y="2606040"/>
            <a:ext cx="1874520" cy="411480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26609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Parent Connect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14032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modules available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14032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 slides →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Academics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Teaching, learning &amp;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0"/>
            <a:ext cx="6080760" cy="4572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640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64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640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530352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5852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Timetable Engine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60704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0607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0" y="58521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timetables respecting teacher load, CISCE periods &amp; room capacity. Auto-substitution when teacher is absent.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₹8K/yr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63240" y="1426464"/>
            <a:ext cx="6080760" cy="841248"/>
          </a:xfrm>
          <a:prstGeom prst="rect">
            <a:avLst/>
          </a:prstGeom>
          <a:solidFill>
            <a:srgbClr val="F1EF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481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Curriculum &amp; Lesson Planner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1956816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767328" y="1956816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19568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486400" y="148132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CISCE syllabus pre-loaded. AI lesson plan generator from topic name. Bloom's taxonomy tagging &amp; syllabus completion heatmap.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₹10K/yr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63240" y="2322576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Assessment &amp; Grading Hub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852928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852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767328" y="2852928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2852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86400" y="23774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entry via web, app or Excel. AI flags grade anomalies. CISCE grading auto-applied. One-click report card generation.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₹12K/yr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63240" y="3218688"/>
            <a:ext cx="6080760" cy="841248"/>
          </a:xfrm>
          <a:prstGeom prst="rect">
            <a:avLst/>
          </a:prstGeom>
          <a:solidFill>
            <a:srgbClr val="F1EF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2735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&amp; Resource Scheduler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327355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slot booking, chemical inventory, breakage alerts, practical exam scheduling and usage analytics per term.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458200" y="3401568"/>
            <a:ext cx="640080" cy="4389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458200" y="34015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₹6K/yr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63240" y="4114800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416966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 Management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0" y="4645152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4645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86400" y="416966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book recommendations per student, RFID issue-return, overdue WhatsApp alerts, e-Book integration &amp; reading analytics.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458200" y="4297680"/>
            <a:ext cx="640080" cy="4389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458200" y="429768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₹7K/yr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1089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are per annum. Module can be added/removed at each renewal.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🏫 Administration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school operations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0"/>
            <a:ext cx="6080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640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64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640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530352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5852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Admission &amp; Enrollment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60704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0607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767328" y="1060704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607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86400" y="58521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captures inquiries 24x7. Auto-shortlisting, interview scheduling, digital document checklist &amp; sibling preference engine.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₹12K/yr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63240" y="1426464"/>
            <a:ext cx="6080760" cy="841248"/>
          </a:xfrm>
          <a:prstGeom prst="rect">
            <a:avLst/>
          </a:prstGeom>
          <a:solidFill>
            <a:srgbClr val="F1EF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481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 Intelligence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956816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767328" y="1956816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19568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86400" y="148132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+ RFID/QR fallback. AI flags proxy patterns. Instant WhatsApp alert to parents. Attendance prediction &amp; at-risk alerts.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₹15K/yr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63240" y="2322576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Examinations Control Room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852928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2852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86400" y="23774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schedule with clash detection, bulk hall ticket generation, auto seating plan, OMR upload &amp; board exam roll management.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₹8K/yr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63240" y="3218688"/>
            <a:ext cx="6080760" cy="841248"/>
          </a:xfrm>
          <a:prstGeom prst="rect">
            <a:avLst/>
          </a:prstGeom>
          <a:solidFill>
            <a:srgbClr val="F1EF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2735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 &amp; GPS Tracking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749040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3749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486400" y="327355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 tracking in parent app. Route optimisation, driver profiles, SOS alert button, and boarding/alighting sync.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58200" y="3401568"/>
            <a:ext cx="6400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458200" y="34015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₹14K/yr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63240" y="4114800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416966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&amp; Medical Records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0" y="4645152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46451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486400" y="416966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history, allergy &amp; blood group store. Nurse daily log, vaccination reminders, epidemic cluster alerts, referral letters.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297680"/>
            <a:ext cx="6400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458200" y="429768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₹6K/yr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1089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are per annum. Module can be added/removed at each renewal.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💳 Finance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accounts &amp; scholarships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0"/>
            <a:ext cx="60807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640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64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640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530352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5852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 Management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60704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0607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767328" y="1060704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607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86400" y="58521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fee structures by class. Auto-generation on enrollment. UPI/card/net banking. AI defaulter prediction before due date.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₹14K/yr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63240" y="1426464"/>
            <a:ext cx="6080760" cy="841248"/>
          </a:xfrm>
          <a:prstGeom prst="rect">
            <a:avLst/>
          </a:prstGeom>
          <a:solidFill>
            <a:srgbClr val="F1EF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481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Accounts &amp; Budget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956816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9568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486400" y="148132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expenditure ledger, salary &amp; payslip, budget vs actual dashboard, GST-compliant invoicing, AI spend anomaly detection.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₹12K/yr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63240" y="2322576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Scholarship &amp; Concession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852928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852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767328" y="2852928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2852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86400" y="23774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merit ranking, document verification workflow, partial/full concession automation, renewal reminders, donor tracking.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₹7K/yr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089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are per annum. Module can be added/removed at each renewal.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People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staff &amp; visitors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0"/>
            <a:ext cx="6080760" cy="4572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640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64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640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530352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5852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Staff &amp; HR Module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60704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0607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767328" y="1060704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607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86400" y="58521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staff files, leave management with approval chain, AI appraisal &amp; OKR tracking, CPD log &amp; payroll with statutory deductions.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₹10K/yr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63240" y="1426464"/>
            <a:ext cx="6080760" cy="841248"/>
          </a:xfrm>
          <a:prstGeom prst="rect">
            <a:avLst/>
          </a:prstGeom>
          <a:solidFill>
            <a:srgbClr val="F1EF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481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360° Profile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956816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767328" y="1956816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19568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86400" y="148132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Academic, health, behavioural &amp; co-curricular records from Playhouse to Class XII. AI learning style, portfolio &amp; counsellor notes.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₹10K/yr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63240" y="2322576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Visitor &amp; Gate Management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852928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2852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86400" y="23774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pass for visitors, photo capture, teacher approval before entry, contractor/vendor log &amp; gate analytics by peak hour.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₹6K/yr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089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are per annum. Module can be added/removed at each renewal.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&amp; generative AI 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0"/>
            <a:ext cx="6080760" cy="4572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640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64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640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530352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5852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Academic Advisor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60704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0607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767328" y="1060704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0607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86400" y="58521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 identification, personalised revision plans, early dropout alerts, predicted board score from internals, peer grouping.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₹18K/yr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63240" y="1426464"/>
            <a:ext cx="6080760" cy="841248"/>
          </a:xfrm>
          <a:prstGeom prst="rect">
            <a:avLst/>
          </a:prstGeom>
          <a:solidFill>
            <a:srgbClr val="F1EF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481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School Chatbot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956816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767328" y="1956816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19568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86400" y="148132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24x7 chatbot for parents, staff &amp; students. Trained on your school data. Answers fee, schedule, holiday queries. Bengali/Hindi/English.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₹14K/yr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63240" y="2322576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Analytics Dashboard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852928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28529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767328" y="2852928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2852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86400" y="23774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forecasting, fee collection probability, teacher attrition risk, class performance trends, board result prediction.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₹16K/yr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63240" y="3218688"/>
            <a:ext cx="6080760" cy="841248"/>
          </a:xfrm>
          <a:prstGeom prst="rect">
            <a:avLst/>
          </a:prstGeom>
          <a:solidFill>
            <a:srgbClr val="F1EF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32735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Communication Suite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0" y="3749040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3749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767328" y="3749040"/>
            <a:ext cx="411480" cy="201168"/>
          </a:xfrm>
          <a:prstGeom prst="roundRect">
            <a:avLst>
              <a:gd name="adj" fmla="val 22727"/>
            </a:avLst>
          </a:prstGeom>
          <a:solidFill>
            <a:srgbClr val="EAF3DE"/>
          </a:solidFill>
          <a:ln w="6350">
            <a:solidFill>
              <a:srgbClr val="3B6D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67328" y="37490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86400" y="327355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 circulars from bullet points, segment messaging, smart send timing, sentiment analysis on parent feedback, multilingual broadcast.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458200" y="3401568"/>
            <a:ext cx="640080" cy="43891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458200" y="340156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₹10K/yr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1089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are per annum. Module can be added/removed at each renewal.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Parent Connect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families close to school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0"/>
            <a:ext cx="6080760" cy="457200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640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64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640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63240" y="530352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5852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5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 Super 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060704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06070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486400" y="58521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attendance &amp; bus tracking, fee payment, homework &amp; circular inbox, PTM booking &amp; direct teacher messaging — all in one app.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200" y="71323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₹10K/yr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63240" y="1426464"/>
            <a:ext cx="6080760" cy="841248"/>
          </a:xfrm>
          <a:prstGeom prst="rect">
            <a:avLst/>
          </a:prstGeom>
          <a:solidFill>
            <a:srgbClr val="F1EFE8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48132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5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PTM Portal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1956816"/>
            <a:ext cx="502920" cy="201168"/>
          </a:xfrm>
          <a:prstGeom prst="roundRect">
            <a:avLst>
              <a:gd name="adj" fmla="val 22727"/>
            </a:avLst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956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WOW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86400" y="148132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slot booking, AI-suggested talking points per student, video PTM option, post-PTM action tracker &amp; satisfaction rating.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8200" y="160934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₹5K/yr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63240" y="2322576"/>
            <a:ext cx="6080760" cy="84124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5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Co-curricular &amp; Events Hub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23774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calendar with RSVP, team selection portal, inter-school competition tracking, achievement badges, photo/video gallery.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58200" y="250545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₹6K/yr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089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prices are per annum. Module can be added/removed at each renewal.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Packages &amp;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for every school size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320040"/>
            <a:ext cx="1874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502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0" y="9418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₹1.8L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764792"/>
            <a:ext cx="1600200" cy="18288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8745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Admissions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18688" y="225856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Attendance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18688" y="26426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Fee Management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18688" y="30266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Parent App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18688" y="34107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Reports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20640" y="320040"/>
            <a:ext cx="1874520" cy="4206240"/>
          </a:xfrm>
          <a:prstGeom prst="rect">
            <a:avLst/>
          </a:prstGeom>
          <a:solidFill>
            <a:srgbClr val="E8EFFE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320040"/>
            <a:ext cx="1874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320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12080" y="7132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115214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₹3.2L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12080" y="16733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75104"/>
            <a:ext cx="1600200" cy="18288"/>
          </a:xfrm>
          <a:prstGeom prst="rect">
            <a:avLst/>
          </a:prstGeom>
          <a:solidFill>
            <a:srgbClr val="1E2761">
              <a:alpha val="40000"/>
            </a:srgbClr>
          </a:solidFill>
          <a:ln w="12700">
            <a:solidFill>
              <a:srgbClr val="1E276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208483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Starter modules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30368" y="24688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Timetable Engine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30368" y="285292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Exam Control Room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30368" y="323697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Library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30368" y="362102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Transport GPS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30368" y="40050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HR Module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32320" y="320040"/>
            <a:ext cx="1874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5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23760" y="5029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Elite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0" y="9418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22376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69480" y="1764792"/>
            <a:ext cx="1600200" cy="18288"/>
          </a:xfrm>
          <a:prstGeom prst="rect">
            <a:avLst/>
          </a:prstGeom>
          <a:solidFill>
            <a:srgbClr val="F5C542">
              <a:alpha val="40000"/>
            </a:srgbClr>
          </a:solidFill>
          <a:ln w="12700">
            <a:solidFill>
              <a:srgbClr val="F5C542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18745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Growth modules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42048" y="225856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AI Suite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42048" y="264261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Analytics Dashboard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42048" y="30266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42048" y="34107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Scholarship Engine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42048" y="37947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future modules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08960" y="4663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build your own: select any combination of modules and get a custom quote.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Module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Checklist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 slide with our team.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build your custom quote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24 hours.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📞 Contact 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www.flintdeorient.com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hello@flintdeorient.com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XXXXX XXXXX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64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26280" y="475488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438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731520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694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Planner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987552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509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Hub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475488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438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Scheduler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731520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694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1444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26280" y="1755648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719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2011680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975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26280" y="2267712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2311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Control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20840" y="1755648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719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GPS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20840" y="2011680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975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26280" y="27249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26280" y="3035808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999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26280" y="3291840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255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Budget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26280" y="3547872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5112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26280" y="3685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26280" y="3995928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9593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Staff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26280" y="4251960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215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360°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26280" y="4507992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4714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Management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26280" y="4645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26280" y="4956048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919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Academic Advisor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26280" y="5212080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51755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26280" y="5468112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54315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20840" y="4956048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4919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26280" y="5605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35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26280" y="5916168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58795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Super App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26280" y="6172200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61356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PTM Portal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26280" y="6428232"/>
            <a:ext cx="164592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63916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Hub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Live in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Weeks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onboarding promise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98848" y="1005840"/>
            <a:ext cx="118872" cy="4572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502920"/>
            <a:ext cx="1371600" cy="4206240"/>
          </a:xfrm>
          <a:prstGeom prst="rect">
            <a:avLst/>
          </a:prstGeom>
          <a:solidFill>
            <a:srgbClr val="F1EFE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502920"/>
            <a:ext cx="13716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521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54680" y="795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&amp;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12984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34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provisioning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195681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8928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staff data import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8688" y="261518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55117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structure configuration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327355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209544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activation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07608" y="1005840"/>
            <a:ext cx="118872" cy="4572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502920"/>
            <a:ext cx="1371600" cy="4206240"/>
          </a:xfrm>
          <a:prstGeom prst="rect">
            <a:avLst/>
          </a:prstGeom>
          <a:solidFill>
            <a:srgbClr val="F1EFE8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502920"/>
            <a:ext cx="1371600" cy="6400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521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795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27448" y="1298448"/>
            <a:ext cx="109728" cy="10972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234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setup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27448" y="1956816"/>
            <a:ext cx="109728" cy="10972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8928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mapping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27448" y="2615184"/>
            <a:ext cx="109728" cy="10972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55117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27448" y="3273552"/>
            <a:ext cx="109728" cy="10972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209544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access setup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16368" y="1005840"/>
            <a:ext cx="118872" cy="4572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502920"/>
            <a:ext cx="1371600" cy="4206240"/>
          </a:xfrm>
          <a:prstGeom prst="rect">
            <a:avLst/>
          </a:prstGeom>
          <a:solidFill>
            <a:srgbClr val="F1EFE8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502920"/>
            <a:ext cx="1371600" cy="64008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521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795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36208" y="1298448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1234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team training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36208" y="1956816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18928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36208" y="2615184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255117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app launch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36208" y="3273552"/>
            <a:ext cx="109728" cy="109728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209544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 with pilot class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635240" y="502920"/>
            <a:ext cx="1371600" cy="4206240"/>
          </a:xfrm>
          <a:prstGeom prst="rect">
            <a:avLst/>
          </a:prstGeom>
          <a:solidFill>
            <a:srgbClr val="F1EFE8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35240" y="502920"/>
            <a:ext cx="1371600" cy="6400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521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80960" y="795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Live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44968" y="1298448"/>
            <a:ext cx="109728" cy="10972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9560" y="12344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school rollout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744968" y="1956816"/>
            <a:ext cx="109728" cy="10972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09560" y="18928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support team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744968" y="2615184"/>
            <a:ext cx="109728" cy="10972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09560" y="2551176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communication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744968" y="3273552"/>
            <a:ext cx="109728" cy="10972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09560" y="3209544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Hyper-care week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108960" y="4846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 for 3 months post-go-live. Included in all plans.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E3E8C">
              <a:alpha val="50000"/>
            </a:srgbClr>
          </a:solidFill>
          <a:ln w="12700">
            <a:solidFill>
              <a:srgbClr val="2E3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5C542">
              <a:alpha val="12000"/>
            </a:srgbClr>
          </a:solidFill>
          <a:ln w="12700">
            <a:solidFill>
              <a:srgbClr val="F5C542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transform your school?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modules · Get a demo · Go live in 4 weeks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F5C542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Request Module Quote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237744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2E3E8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Book a Live Demo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37744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📞  Talk to Our Team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Flint De Orient Marketing &amp; Technology Pvt. Ltd.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Bidhan Nagar, Kolkata, West Bengal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www.flintdeorient.com  ·  hello@flintdeorient.com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ERP — AI-Powered Platform</dc:title>
  <dc:subject>PptxGenJS Presentation</dc:subject>
  <dc:creator>Flint De Orient</dc:creator>
  <cp:lastModifiedBy>Flint De Orient</cp:lastModifiedBy>
  <cp:revision>1</cp:revision>
  <dcterms:created xsi:type="dcterms:W3CDTF">2026-04-10T01:20:27Z</dcterms:created>
  <dcterms:modified xsi:type="dcterms:W3CDTF">2026-04-10T01:20:27Z</dcterms:modified>
</cp:coreProperties>
</file>