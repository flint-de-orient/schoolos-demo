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0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926080" y="0"/>
            <a:ext cx="54864" cy="5143500"/>
          </a:xfrm>
          <a:prstGeom prst="rect">
            <a:avLst/>
          </a:prstGeom>
          <a:solidFill>
            <a:srgbClr val="F5C542"/>
          </a:solidFill>
          <a:ln w="12700">
            <a:solidFill>
              <a:srgbClr val="F5C54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914400"/>
            <a:ext cx="2560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📱 Parent</a:t>
            </a:r>
            <a:endParaRPr lang="en-US" sz="2100" dirty="0"/>
          </a:p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Super App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228600" y="251460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app. Everything a parent needs.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28600" y="44805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 SchoolOS ERP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108960" y="109728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Feature Zones · Works on Android &amp; iOS · Available in Bengali, Hindi &amp; English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127248" y="457200"/>
            <a:ext cx="1920240" cy="1417320"/>
          </a:xfrm>
          <a:prstGeom prst="rect">
            <a:avLst/>
          </a:prstGeom>
          <a:solidFill>
            <a:srgbClr val="E8EFFE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127248" y="457200"/>
            <a:ext cx="1920240" cy="34747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0" y="512064"/>
            <a:ext cx="17739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1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200400" y="859536"/>
            <a:ext cx="17739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🏠 My Child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Dashboard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129784" y="457200"/>
            <a:ext cx="1920240" cy="1417320"/>
          </a:xfrm>
          <a:prstGeom prst="rect">
            <a:avLst/>
          </a:prstGeom>
          <a:solidFill>
            <a:srgbClr val="EEEDFE"/>
          </a:solidFill>
          <a:ln w="12700">
            <a:solidFill>
              <a:srgbClr val="534A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129784" y="457200"/>
            <a:ext cx="1920240" cy="347472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202936" y="512064"/>
            <a:ext cx="17739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2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202936" y="859536"/>
            <a:ext cx="17739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34AB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📋 Homework &amp;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534AB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Assignments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132320" y="457200"/>
            <a:ext cx="1920240" cy="1417320"/>
          </a:xfrm>
          <a:prstGeom prst="rect">
            <a:avLst/>
          </a:prstGeom>
          <a:solidFill>
            <a:srgbClr val="E1F5EE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132320" y="457200"/>
            <a:ext cx="1920240" cy="3474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205472" y="512064"/>
            <a:ext cx="17739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3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7205472" y="859536"/>
            <a:ext cx="17739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📍 Live Safety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Tracker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127248" y="1993392"/>
            <a:ext cx="1920240" cy="1417320"/>
          </a:xfrm>
          <a:prstGeom prst="rect">
            <a:avLst/>
          </a:prstGeom>
          <a:solidFill>
            <a:srgbClr val="EAF3DE"/>
          </a:solidFill>
          <a:ln w="12700">
            <a:solidFill>
              <a:srgbClr val="3B6D1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127248" y="1993392"/>
            <a:ext cx="1920240" cy="347472"/>
          </a:xfrm>
          <a:prstGeom prst="rect">
            <a:avLst/>
          </a:prstGeom>
          <a:solidFill>
            <a:srgbClr val="3B6D11"/>
          </a:solidFill>
          <a:ln w="12700">
            <a:solidFill>
              <a:srgbClr val="3B6D1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0" y="2048256"/>
            <a:ext cx="17739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4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3200400" y="2395728"/>
            <a:ext cx="17739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B6D1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💳 Fee &amp; Smart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3B6D1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Payments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129784" y="1993392"/>
            <a:ext cx="1920240" cy="1417320"/>
          </a:xfrm>
          <a:prstGeom prst="rect">
            <a:avLst/>
          </a:prstGeom>
          <a:solidFill>
            <a:srgbClr val="FAECE7"/>
          </a:solidFill>
          <a:ln w="12700">
            <a:solidFill>
              <a:srgbClr val="D85A3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129784" y="1993392"/>
            <a:ext cx="1920240" cy="347472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202936" y="2048256"/>
            <a:ext cx="17739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5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202936" y="2395728"/>
            <a:ext cx="17739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85A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🛒 School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D85A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Shop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7132320" y="1993392"/>
            <a:ext cx="1920240" cy="1417320"/>
          </a:xfrm>
          <a:prstGeom prst="rect">
            <a:avLst/>
          </a:prstGeom>
          <a:solidFill>
            <a:srgbClr val="FAEEDA"/>
          </a:solidFill>
          <a:ln w="12700">
            <a:solidFill>
              <a:srgbClr val="BA751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132320" y="1993392"/>
            <a:ext cx="1920240" cy="347472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205472" y="2048256"/>
            <a:ext cx="17739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6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7205472" y="2395728"/>
            <a:ext cx="17739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A75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💬 Communication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BA75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Hub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3127248" y="3529584"/>
            <a:ext cx="1920240" cy="1417320"/>
          </a:xfrm>
          <a:prstGeom prst="rect">
            <a:avLst/>
          </a:prstGeom>
          <a:solidFill>
            <a:srgbClr val="FBEAF0"/>
          </a:solidFill>
          <a:ln w="12700">
            <a:solidFill>
              <a:srgbClr val="99355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127248" y="3529584"/>
            <a:ext cx="1920240" cy="347472"/>
          </a:xfrm>
          <a:prstGeom prst="rect">
            <a:avLst/>
          </a:prstGeom>
          <a:solidFill>
            <a:srgbClr val="993556"/>
          </a:solidFill>
          <a:ln w="12700">
            <a:solidFill>
              <a:srgbClr val="99355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200400" y="3584448"/>
            <a:ext cx="17739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7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3200400" y="3931920"/>
            <a:ext cx="17739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9355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📊 Academic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99355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Progress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5129784" y="3529584"/>
            <a:ext cx="1920240" cy="1417320"/>
          </a:xfrm>
          <a:prstGeom prst="rect">
            <a:avLst/>
          </a:prstGeom>
          <a:solidFill>
            <a:srgbClr val="FCEBEB"/>
          </a:solidFill>
          <a:ln w="12700">
            <a:solidFill>
              <a:srgbClr val="A32D2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5129784" y="3529584"/>
            <a:ext cx="1920240" cy="347472"/>
          </a:xfrm>
          <a:prstGeom prst="rect">
            <a:avLst/>
          </a:prstGeom>
          <a:solidFill>
            <a:srgbClr val="A32D2D"/>
          </a:solidFill>
          <a:ln w="12700">
            <a:solidFill>
              <a:srgbClr val="A32D2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202936" y="3584448"/>
            <a:ext cx="17739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8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5202936" y="3931920"/>
            <a:ext cx="17739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32D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🏥 Health &amp;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A32D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Wellness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7132320" y="3529584"/>
            <a:ext cx="1920240" cy="1417320"/>
          </a:xfrm>
          <a:prstGeom prst="rect">
            <a:avLst/>
          </a:prstGeom>
          <a:solidFill>
            <a:srgbClr val="F1EFE8"/>
          </a:solidFill>
          <a:ln w="12700">
            <a:solidFill>
              <a:srgbClr val="5F5E5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7132320" y="3529584"/>
            <a:ext cx="1920240" cy="347472"/>
          </a:xfrm>
          <a:prstGeom prst="rect">
            <a:avLst/>
          </a:prstGeom>
          <a:solidFill>
            <a:srgbClr val="5F5E5A"/>
          </a:solidFill>
          <a:ln w="12700">
            <a:solidFill>
              <a:srgbClr val="5F5E5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205472" y="3584448"/>
            <a:ext cx="17739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9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7205472" y="3931920"/>
            <a:ext cx="17739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F5E5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🗓️ Calendar &amp;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5F5E5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Events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3108960" y="4892040"/>
            <a:ext cx="5852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Swipe through the next slides to explore each zone in detail →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0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926080" y="0"/>
            <a:ext cx="54864" cy="5143500"/>
          </a:xfrm>
          <a:prstGeom prst="rect">
            <a:avLst/>
          </a:prstGeom>
          <a:solidFill>
            <a:srgbClr val="F5C542"/>
          </a:solidFill>
          <a:ln w="12700">
            <a:solidFill>
              <a:srgbClr val="F5C54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914400"/>
            <a:ext cx="2560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📱 Parent</a:t>
            </a:r>
            <a:endParaRPr lang="en-US" sz="2100" dirty="0"/>
          </a:p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Super App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228600" y="251460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Zones 1 &amp; 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28600" y="44805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 SchoolOS ERP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063240" y="0"/>
            <a:ext cx="2971800" cy="43891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154680" y="73152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Zone 1 · 🏠 My Child Dashboard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063240" y="530352"/>
            <a:ext cx="2926080" cy="987552"/>
          </a:xfrm>
          <a:prstGeom prst="rect">
            <a:avLst/>
          </a:prstGeom>
          <a:solidFill>
            <a:srgbClr val="E8EFFE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127248" y="6217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📸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520440" y="60350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Child Profile Card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520440" y="896112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Photo, class, section, roll no, blood group &amp; emergency contacts at a glance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063240" y="1627632"/>
            <a:ext cx="2926080" cy="987552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127248" y="17190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520440" y="170078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Today at a Glance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520440" y="1993392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Period-wise timetable for today, homework due, upcoming tests &amp; events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063240" y="2724912"/>
            <a:ext cx="2926080" cy="987552"/>
          </a:xfrm>
          <a:prstGeom prst="rect">
            <a:avLst/>
          </a:prstGeom>
          <a:solidFill>
            <a:srgbClr val="E8EFFE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127248" y="28163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🔔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3520440" y="279806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Smart Notifications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520440" y="3090672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Categorised alerts: academics, fees, health, transport — parent chooses what to receive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063240" y="3822192"/>
            <a:ext cx="2926080" cy="987552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127248" y="39136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👨‍👩‍👧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3520440" y="389534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Multi-Child Support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520440" y="4187952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all your children in one app — switch profiles with one tap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080760" y="0"/>
            <a:ext cx="3063240" cy="438912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44768" y="73152"/>
            <a:ext cx="2907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Zone 2 · 📋 Homework &amp; Assignments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080760" y="530352"/>
            <a:ext cx="3017520" cy="804672"/>
          </a:xfrm>
          <a:prstGeom prst="rect">
            <a:avLst/>
          </a:prstGeom>
          <a:solidFill>
            <a:srgbClr val="EEEDFE"/>
          </a:solidFill>
          <a:ln w="6350">
            <a:solidFill>
              <a:srgbClr val="C8C3E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26480" y="60350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📤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473952" y="585216"/>
            <a:ext cx="2542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34AB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Assignment Upload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473952" y="859536"/>
            <a:ext cx="25420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 or parent uploads completed homework as photo, PDF or audio. Teacher gets instant notification.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080760" y="1426464"/>
            <a:ext cx="301752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C8C3E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126480" y="149961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📥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473952" y="1481328"/>
            <a:ext cx="2542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34AB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Teacher Feedback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473952" y="1755648"/>
            <a:ext cx="25420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Marked assignments returned with score, comments &amp; corrections visible to parent &amp; child.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080760" y="2322576"/>
            <a:ext cx="3017520" cy="804672"/>
          </a:xfrm>
          <a:prstGeom prst="rect">
            <a:avLst/>
          </a:prstGeom>
          <a:solidFill>
            <a:srgbClr val="EEEDFE"/>
          </a:solidFill>
          <a:ln w="6350">
            <a:solidFill>
              <a:srgbClr val="C8C3E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126480" y="23957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📆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473952" y="2377440"/>
            <a:ext cx="2542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34AB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Homework Calendar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6473952" y="2651760"/>
            <a:ext cx="25420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Subject-wise homework tracker. Overdue highlighted in red. Upcoming in amber.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6080760" y="3218688"/>
            <a:ext cx="301752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C8C3E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126480" y="32918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🔗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473952" y="3273552"/>
            <a:ext cx="2542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34AB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Resource Library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6473952" y="3547872"/>
            <a:ext cx="25420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Teacher-shared notes, reference PDFs, YouTube links &amp; practice sheets — organised by subject.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6080760" y="4114800"/>
            <a:ext cx="3017520" cy="804672"/>
          </a:xfrm>
          <a:prstGeom prst="rect">
            <a:avLst/>
          </a:prstGeom>
          <a:solidFill>
            <a:srgbClr val="EEEDFE"/>
          </a:solidFill>
          <a:ln w="6350">
            <a:solidFill>
              <a:srgbClr val="C8C3E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126480" y="418795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🏆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6473952" y="4169664"/>
            <a:ext cx="2542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34AB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Submission Streaks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6473952" y="4443984"/>
            <a:ext cx="25420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Gamified on-time submission tracker. Motivates children with streak badges and parent visibility.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0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926080" y="0"/>
            <a:ext cx="54864" cy="5143500"/>
          </a:xfrm>
          <a:prstGeom prst="rect">
            <a:avLst/>
          </a:prstGeom>
          <a:solidFill>
            <a:srgbClr val="F5C542"/>
          </a:solidFill>
          <a:ln w="12700">
            <a:solidFill>
              <a:srgbClr val="F5C54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914400"/>
            <a:ext cx="2560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📱 Parent</a:t>
            </a:r>
            <a:endParaRPr lang="en-US" sz="2100" dirty="0"/>
          </a:p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Super App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228600" y="251460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Zones 3 &amp; 4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28600" y="44805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 SchoolOS ERP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063240" y="0"/>
            <a:ext cx="2971800" cy="43891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154680" y="73152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Zone 3 · 📍 Live Safety Tracker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063240" y="530352"/>
            <a:ext cx="2926080" cy="804672"/>
          </a:xfrm>
          <a:prstGeom prst="rect">
            <a:avLst/>
          </a:prstGeom>
          <a:solidFill>
            <a:srgbClr val="E1F5EE"/>
          </a:solidFill>
          <a:ln w="6350">
            <a:solidFill>
              <a:srgbClr val="9FCFC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127248" y="62179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🚌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474720" y="594360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Live Bus on Map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474720" y="868680"/>
            <a:ext cx="2423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GPS bus position on Google Maps. Estimated arrival at stop shown with countdown.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063240" y="1426464"/>
            <a:ext cx="292608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9FCFC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127248" y="151790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🚪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474720" y="1490472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Gate Entry / Exit Alerts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474720" y="1764792"/>
            <a:ext cx="2423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notification when child enters and exits school gate. Timestamp logged.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063240" y="2322576"/>
            <a:ext cx="2926080" cy="804672"/>
          </a:xfrm>
          <a:prstGeom prst="rect">
            <a:avLst/>
          </a:prstGeom>
          <a:solidFill>
            <a:srgbClr val="E1F5EE"/>
          </a:solidFill>
          <a:ln w="6350">
            <a:solidFill>
              <a:srgbClr val="9FCFC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127248" y="241401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🆘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474720" y="2386584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SOS &amp; Emergency Alert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474720" y="2660904"/>
            <a:ext cx="2423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One-tap SOS from student or bus. Alerts parents, principal &amp; nearest emergency contact simultaneously.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063240" y="3218688"/>
            <a:ext cx="292608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9FCFC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127248" y="33101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🕐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3474720" y="3282696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Late Alert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474720" y="3557016"/>
            <a:ext cx="2423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Auto-alert if child has not boarded bus within 10 min of usual time. Parent can track or call driver.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063240" y="4114800"/>
            <a:ext cx="2926080" cy="804672"/>
          </a:xfrm>
          <a:prstGeom prst="rect">
            <a:avLst/>
          </a:prstGeom>
          <a:solidFill>
            <a:srgbClr val="E1F5EE"/>
          </a:solidFill>
          <a:ln w="6350">
            <a:solidFill>
              <a:srgbClr val="9FCFC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127248" y="42062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🗺️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3474720" y="4178808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Geo-fence Alerts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3474720" y="4453128"/>
            <a:ext cx="2423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gets alerted if child's device exits a defined safe zone — school, home or tuition.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080760" y="0"/>
            <a:ext cx="3063240" cy="438912"/>
          </a:xfrm>
          <a:prstGeom prst="rect">
            <a:avLst/>
          </a:prstGeom>
          <a:solidFill>
            <a:srgbClr val="3B6D11"/>
          </a:solidFill>
          <a:ln w="12700">
            <a:solidFill>
              <a:srgbClr val="3B6D1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144768" y="73152"/>
            <a:ext cx="2907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Zone 4 · 💳 Fee &amp; Smart Payments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080760" y="530352"/>
            <a:ext cx="3017520" cy="685800"/>
          </a:xfrm>
          <a:prstGeom prst="rect">
            <a:avLst/>
          </a:prstGeom>
          <a:solidFill>
            <a:srgbClr val="EAF3DE"/>
          </a:solidFill>
          <a:ln w="6350">
            <a:solidFill>
              <a:srgbClr val="AECF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126480" y="6035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📋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446520" y="585216"/>
            <a:ext cx="2578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6D1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Fee Ledger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446520" y="841248"/>
            <a:ext cx="2578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term-wise fee statement. Paid, pending &amp; overdue amounts clearly colour-coded.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6080760" y="1298448"/>
            <a:ext cx="301752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AECF8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126480" y="13716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💸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6446520" y="1353312"/>
            <a:ext cx="2578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6D1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One-tap Payment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446520" y="1609344"/>
            <a:ext cx="2578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 via UPI, credit/debit card, net banking or EMI. Auto-receipt &amp; GST invoice generated.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6080760" y="2066544"/>
            <a:ext cx="3017520" cy="685800"/>
          </a:xfrm>
          <a:prstGeom prst="rect">
            <a:avLst/>
          </a:prstGeom>
          <a:solidFill>
            <a:srgbClr val="EAF3DE"/>
          </a:solidFill>
          <a:ln w="6350">
            <a:solidFill>
              <a:srgbClr val="AECF8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126480" y="21396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🔔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6446520" y="2121408"/>
            <a:ext cx="2578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6D1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Due Date Reminders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446520" y="2377440"/>
            <a:ext cx="2578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reminders 7 days, 3 days and 1 day before due date. Late fee calculator shown live.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6080760" y="2834640"/>
            <a:ext cx="301752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AECF8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126480" y="29077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📄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6446520" y="2889504"/>
            <a:ext cx="2578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6D1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Receipt &amp; Tax Certificate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6446520" y="3145536"/>
            <a:ext cx="2578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fee receipts &amp; annual fee certificate for IT returns — anytime, no office visit.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6080760" y="3602736"/>
            <a:ext cx="3017520" cy="685800"/>
          </a:xfrm>
          <a:prstGeom prst="rect">
            <a:avLst/>
          </a:prstGeom>
          <a:solidFill>
            <a:srgbClr val="EAF3DE"/>
          </a:solidFill>
          <a:ln w="6350">
            <a:solidFill>
              <a:srgbClr val="AECF8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126480" y="36758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🎓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6446520" y="3657600"/>
            <a:ext cx="2578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6D1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Scholarship Status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6446520" y="3913632"/>
            <a:ext cx="2578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status of scholarship/concession applications. Disbursement timeline &amp; documents needed.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6080760" y="4370832"/>
            <a:ext cx="301752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AECF88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126480" y="444398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💼</a:t>
            </a:r>
            <a:endParaRPr lang="en-US" sz="1400" dirty="0"/>
          </a:p>
        </p:txBody>
      </p:sp>
      <p:sp>
        <p:nvSpPr>
          <p:cNvPr id="53" name="Text 51"/>
          <p:cNvSpPr/>
          <p:nvPr/>
        </p:nvSpPr>
        <p:spPr>
          <a:xfrm>
            <a:off x="6446520" y="4425696"/>
            <a:ext cx="2578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6D1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Instalment Planner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6446520" y="4681728"/>
            <a:ext cx="2578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 for school-approved fee instalments. Custom payment schedule set up in the app.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0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926080" y="0"/>
            <a:ext cx="54864" cy="5143500"/>
          </a:xfrm>
          <a:prstGeom prst="rect">
            <a:avLst/>
          </a:prstGeom>
          <a:solidFill>
            <a:srgbClr val="F5C542"/>
          </a:solidFill>
          <a:ln w="12700">
            <a:solidFill>
              <a:srgbClr val="F5C54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914400"/>
            <a:ext cx="2560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📱 Parent</a:t>
            </a:r>
            <a:endParaRPr lang="en-US" sz="2100" dirty="0"/>
          </a:p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Super App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228600" y="251460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5 · School Shop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28600" y="44805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 SchoolOS ERP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063240" y="0"/>
            <a:ext cx="6080760" cy="438912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154680" y="9144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Zone 5 · 🛒 School Shop — Buy Everything Your Child Needs, In-App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108960" y="530352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Parents order directly from school — no middlemen, no cash, no queues. School manages inventory.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090672" y="896112"/>
            <a:ext cx="1920240" cy="1901952"/>
          </a:xfrm>
          <a:prstGeom prst="rect">
            <a:avLst/>
          </a:prstGeom>
          <a:solidFill>
            <a:srgbClr val="FAECE7"/>
          </a:solidFill>
          <a:ln w="12700">
            <a:solidFill>
              <a:srgbClr val="D85A3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090672" y="896112"/>
            <a:ext cx="1920240" cy="384048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63824" y="960120"/>
            <a:ext cx="1773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👕  Uniform Shop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182112" y="135331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Winter &amp; summer sets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182112" y="162763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PT uniform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182112" y="190195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House colour t-shirts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182112" y="217627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Tie, belt, socks, shoes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182112" y="245059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Size guide with try-at-home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102352" y="896112"/>
            <a:ext cx="1920240" cy="1901952"/>
          </a:xfrm>
          <a:prstGeom prst="rect">
            <a:avLst/>
          </a:prstGeom>
          <a:solidFill>
            <a:srgbClr val="E8EFFE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102352" y="896112"/>
            <a:ext cx="1920240" cy="38404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75504" y="960120"/>
            <a:ext cx="1773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📚  Books &amp; Stationery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193792" y="135331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CISCE prescribed textbooks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193792" y="162763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Workbooks &amp; practice papers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193792" y="190195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Notebooks, copies, graph books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193792" y="217627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Art supplies kit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193792" y="245059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Stationery combo packs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7114032" y="896112"/>
            <a:ext cx="1920240" cy="1901952"/>
          </a:xfrm>
          <a:prstGeom prst="rect">
            <a:avLst/>
          </a:prstGeom>
          <a:solidFill>
            <a:srgbClr val="EEEDFE"/>
          </a:solidFill>
          <a:ln w="12700">
            <a:solidFill>
              <a:srgbClr val="534A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114032" y="896112"/>
            <a:ext cx="1920240" cy="384048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187184" y="960120"/>
            <a:ext cx="1773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🎒  School Bag &amp; Gear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7205472" y="135331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School bag by class level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205472" y="162763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Tiffin box &amp; water bottle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7205472" y="190195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Lab coat &amp; safety gear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7205472" y="217627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Sports kit (bat, ball, etc.)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205472" y="245059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Name-tagged luggage tags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090672" y="2926080"/>
            <a:ext cx="1920240" cy="1901952"/>
          </a:xfrm>
          <a:prstGeom prst="rect">
            <a:avLst/>
          </a:prstGeom>
          <a:solidFill>
            <a:srgbClr val="EAF3DE"/>
          </a:solidFill>
          <a:ln w="12700">
            <a:solidFill>
              <a:srgbClr val="3B6D1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3090672" y="2926080"/>
            <a:ext cx="1920240" cy="384048"/>
          </a:xfrm>
          <a:prstGeom prst="rect">
            <a:avLst/>
          </a:prstGeom>
          <a:solidFill>
            <a:srgbClr val="3B6D11"/>
          </a:solidFill>
          <a:ln w="12700">
            <a:solidFill>
              <a:srgbClr val="3B6D1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163824" y="2990088"/>
            <a:ext cx="1773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💊  Health &amp; Hygiene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3182112" y="338328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Sanitiser &amp; hygiene kit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3182112" y="365760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First aid pouch for bag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3182112" y="393192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Spectacle cleaning kit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182112" y="420624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Allergy-safe snack packs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3182112" y="448056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COVID / wellness essentials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5102352" y="2926080"/>
            <a:ext cx="1920240" cy="1901952"/>
          </a:xfrm>
          <a:prstGeom prst="rect">
            <a:avLst/>
          </a:prstGeom>
          <a:solidFill>
            <a:srgbClr val="FAEEDA"/>
          </a:solidFill>
          <a:ln w="12700">
            <a:solidFill>
              <a:srgbClr val="BA751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5102352" y="2926080"/>
            <a:ext cx="1920240" cy="384048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175504" y="2990088"/>
            <a:ext cx="1773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🏅  Achievement Shop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5193792" y="338328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Custom award certificates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5193792" y="365760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Trophy engraving order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5193792" y="393192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House badge &amp; pin sets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5193792" y="420624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Yearbook pre-order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5193792" y="448056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Graduation merchandise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7114032" y="2926080"/>
            <a:ext cx="1920240" cy="1901952"/>
          </a:xfrm>
          <a:prstGeom prst="rect">
            <a:avLst/>
          </a:prstGeom>
          <a:solidFill>
            <a:srgbClr val="FBEAF0"/>
          </a:solidFill>
          <a:ln w="12700">
            <a:solidFill>
              <a:srgbClr val="99355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7114032" y="2926080"/>
            <a:ext cx="1920240" cy="384048"/>
          </a:xfrm>
          <a:prstGeom prst="rect">
            <a:avLst/>
          </a:prstGeom>
          <a:solidFill>
            <a:srgbClr val="993556"/>
          </a:solidFill>
          <a:ln w="12700">
            <a:solidFill>
              <a:srgbClr val="993556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187184" y="2990088"/>
            <a:ext cx="1773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🎨  Project &amp; Activity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7205472" y="338328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Craft &amp; art project kits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7205472" y="365760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Science experiment packs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7205472" y="393192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Hobby class materials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7205472" y="420624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Fair &amp; exhibition props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7205472" y="448056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Music &amp; dance accessories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3063240" y="4828032"/>
            <a:ext cx="6080760" cy="310896"/>
          </a:xfrm>
          <a:prstGeom prst="rect">
            <a:avLst/>
          </a:prstGeom>
          <a:solidFill>
            <a:srgbClr val="FAECE7"/>
          </a:solidFill>
          <a:ln w="6350">
            <a:solidFill>
              <a:srgbClr val="D85A3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154680" y="4855464"/>
            <a:ext cx="5897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All purchases charged to parent's in-app wallet  ·  Order tracking like e-commerce  ·  Return/exchange within school policy  ·  Auto-invoice for records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0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926080" y="0"/>
            <a:ext cx="54864" cy="5143500"/>
          </a:xfrm>
          <a:prstGeom prst="rect">
            <a:avLst/>
          </a:prstGeom>
          <a:solidFill>
            <a:srgbClr val="F5C542"/>
          </a:solidFill>
          <a:ln w="12700">
            <a:solidFill>
              <a:srgbClr val="F5C54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914400"/>
            <a:ext cx="2560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📱 Parent</a:t>
            </a:r>
            <a:endParaRPr lang="en-US" sz="2100" dirty="0"/>
          </a:p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Super App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228600" y="251460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Zones 6 · 7 · 8 · 9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28600" y="44805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 SchoolOS ERP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090672" y="73152"/>
            <a:ext cx="2926080" cy="2377440"/>
          </a:xfrm>
          <a:prstGeom prst="rect">
            <a:avLst/>
          </a:prstGeom>
          <a:solidFill>
            <a:srgbClr val="FAEEDA"/>
          </a:solidFill>
          <a:ln w="12700">
            <a:solidFill>
              <a:srgbClr val="BA751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090672" y="73152"/>
            <a:ext cx="2926080" cy="402336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182112" y="14630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Zone 6 · 💬 Communication Hub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200400" y="548640"/>
            <a:ext cx="27066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Direct message to class teacher (no phone number sharing)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200400" y="859536"/>
            <a:ext cx="27066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School circular inbox — searchable, never lost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200400" y="1170432"/>
            <a:ext cx="27066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PTM slot booking — online, zero queue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200400" y="1481328"/>
            <a:ext cx="27066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Video PTM via in-app call — no Zoom needed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200400" y="1792224"/>
            <a:ext cx="27066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Suggestion box &amp; parent feedback portal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200400" y="2103120"/>
            <a:ext cx="27066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Multi-language support: Bengali, Hindi, English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108192" y="73152"/>
            <a:ext cx="2926080" cy="2377440"/>
          </a:xfrm>
          <a:prstGeom prst="rect">
            <a:avLst/>
          </a:prstGeom>
          <a:solidFill>
            <a:srgbClr val="FBEAF0"/>
          </a:solidFill>
          <a:ln w="12700">
            <a:solidFill>
              <a:srgbClr val="99355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08192" y="73152"/>
            <a:ext cx="2926080" cy="402336"/>
          </a:xfrm>
          <a:prstGeom prst="rect">
            <a:avLst/>
          </a:prstGeom>
          <a:solidFill>
            <a:srgbClr val="993556"/>
          </a:solidFill>
          <a:ln w="12700">
            <a:solidFill>
              <a:srgbClr val="99355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99632" y="14630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Zone 7 · 📊 Academic Progress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217920" y="548640"/>
            <a:ext cx="27066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Subject-wise marks — unit tests to board exams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217920" y="859536"/>
            <a:ext cx="27066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Rank &amp; percentile in class (privacy-respecting)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217920" y="1170432"/>
            <a:ext cx="27066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Attendance percentage with subject-wise breakup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217920" y="1481328"/>
            <a:ext cx="27066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Teacher remarks &amp; conduct report per term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217920" y="1792224"/>
            <a:ext cx="27066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AI-generated learning summary: strengths &amp; gaps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217920" y="2103120"/>
            <a:ext cx="27066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Predicted board score based on current performance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090672" y="2587752"/>
            <a:ext cx="2926080" cy="2377440"/>
          </a:xfrm>
          <a:prstGeom prst="rect">
            <a:avLst/>
          </a:prstGeom>
          <a:solidFill>
            <a:srgbClr val="FCEBEB"/>
          </a:solidFill>
          <a:ln w="12700">
            <a:solidFill>
              <a:srgbClr val="A32D2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090672" y="2587752"/>
            <a:ext cx="2926080" cy="402336"/>
          </a:xfrm>
          <a:prstGeom prst="rect">
            <a:avLst/>
          </a:prstGeom>
          <a:solidFill>
            <a:srgbClr val="A32D2D"/>
          </a:solidFill>
          <a:ln w="12700">
            <a:solidFill>
              <a:srgbClr val="A32D2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182112" y="266090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Zone 8 · 🏥 Health &amp; Wellness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200400" y="3063240"/>
            <a:ext cx="27066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Medical history, allergies &amp; blood group on record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3200400" y="3374136"/>
            <a:ext cx="27066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School nurse visit log with parent notification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3200400" y="3685032"/>
            <a:ext cx="27066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Vaccination due-date reminders (age-appropriate)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3200400" y="3995928"/>
            <a:ext cx="27066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Height, weight &amp; BMI tracking year on year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3200400" y="4306824"/>
            <a:ext cx="27066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Mental wellness check-in — anonymous, counsellor-reviewed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3200400" y="4617720"/>
            <a:ext cx="27066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Emergency medication consent &amp; instruction form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108192" y="2587752"/>
            <a:ext cx="2926080" cy="2377440"/>
          </a:xfrm>
          <a:prstGeom prst="rect">
            <a:avLst/>
          </a:prstGeom>
          <a:solidFill>
            <a:srgbClr val="F1EFE8"/>
          </a:solidFill>
          <a:ln w="12700">
            <a:solidFill>
              <a:srgbClr val="5F5E5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108192" y="2587752"/>
            <a:ext cx="2926080" cy="402336"/>
          </a:xfrm>
          <a:prstGeom prst="rect">
            <a:avLst/>
          </a:prstGeom>
          <a:solidFill>
            <a:srgbClr val="5F5E5A"/>
          </a:solidFill>
          <a:ln w="12700">
            <a:solidFill>
              <a:srgbClr val="5F5E5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199632" y="266090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Zone 9 · 🗓️ Calendar &amp; Events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217920" y="3063240"/>
            <a:ext cx="27066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School academic calendar — holidays, exams, PTM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6217920" y="3374136"/>
            <a:ext cx="27066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Sports day, annual day &amp; cultural event RSVP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6217920" y="3685032"/>
            <a:ext cx="27066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Excursion &amp; trip consent + payment in-app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6217920" y="3995928"/>
            <a:ext cx="27066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Club &amp; activity schedule for child's enrolled groups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6217920" y="4306824"/>
            <a:ext cx="27066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Photo &amp; video gallery post-events (school uploads)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6217920" y="4617720"/>
            <a:ext cx="27066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Achievement wall — badges, certificates, medals won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0" y="0"/>
            <a:ext cx="50292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0" y="0"/>
            <a:ext cx="54864" cy="5143500"/>
          </a:xfrm>
          <a:prstGeom prst="rect">
            <a:avLst/>
          </a:prstGeom>
          <a:solidFill>
            <a:srgbClr val="F5C542"/>
          </a:solidFill>
          <a:ln w="12700">
            <a:solidFill>
              <a:srgbClr val="F5C54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457200"/>
            <a:ext cx="3474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C5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Parent App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F5C5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Zone Selector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1920240"/>
            <a:ext cx="3474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the zones your school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wants to activate.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zone is independently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priced &amp; optional.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20040" y="356616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F5C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📞 Get a custom quote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F5C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hello@flintdeorient.com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F5C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www.flintdeorient.com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224528" y="283464"/>
            <a:ext cx="292608" cy="2926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24528" y="2834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90288" y="283464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Child Dashboard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732520" y="310896"/>
            <a:ext cx="237744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64748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24528" y="704088"/>
            <a:ext cx="4828032" cy="18288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224528" y="813816"/>
            <a:ext cx="292608" cy="292608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24528" y="8138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90288" y="813816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 &amp; Assignments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732520" y="841248"/>
            <a:ext cx="237744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64748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224528" y="1234440"/>
            <a:ext cx="4828032" cy="18288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224528" y="1344168"/>
            <a:ext cx="292608" cy="2926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24528" y="13441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90288" y="134416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Safety Tracker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732520" y="1371600"/>
            <a:ext cx="237744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64748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224528" y="1764792"/>
            <a:ext cx="4828032" cy="18288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224528" y="1874520"/>
            <a:ext cx="292608" cy="292608"/>
          </a:xfrm>
          <a:prstGeom prst="rect">
            <a:avLst/>
          </a:prstGeom>
          <a:solidFill>
            <a:srgbClr val="3B6D11"/>
          </a:solidFill>
          <a:ln w="12700">
            <a:solidFill>
              <a:srgbClr val="3B6D1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224528" y="18745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90288" y="187452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 &amp; Smart Payments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732520" y="1901952"/>
            <a:ext cx="237744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64748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224528" y="2295144"/>
            <a:ext cx="4828032" cy="18288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224528" y="2404872"/>
            <a:ext cx="292608" cy="292608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224528" y="24048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590288" y="240487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Shop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8732520" y="2432304"/>
            <a:ext cx="237744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64748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224528" y="2825496"/>
            <a:ext cx="4828032" cy="18288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224528" y="2935224"/>
            <a:ext cx="292608" cy="292608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224528" y="293522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590288" y="2935224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Hub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8732520" y="2962656"/>
            <a:ext cx="237744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64748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224528" y="3355848"/>
            <a:ext cx="4828032" cy="18288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224528" y="3465576"/>
            <a:ext cx="292608" cy="292608"/>
          </a:xfrm>
          <a:prstGeom prst="rect">
            <a:avLst/>
          </a:prstGeom>
          <a:solidFill>
            <a:srgbClr val="993556"/>
          </a:solidFill>
          <a:ln w="12700">
            <a:solidFill>
              <a:srgbClr val="99355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224528" y="34655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590288" y="3465576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Progress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8732520" y="3493008"/>
            <a:ext cx="237744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64748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224528" y="3886200"/>
            <a:ext cx="4828032" cy="18288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224528" y="3995928"/>
            <a:ext cx="292608" cy="292608"/>
          </a:xfrm>
          <a:prstGeom prst="rect">
            <a:avLst/>
          </a:prstGeom>
          <a:solidFill>
            <a:srgbClr val="A32D2D"/>
          </a:solidFill>
          <a:ln w="12700">
            <a:solidFill>
              <a:srgbClr val="A32D2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224528" y="39959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590288" y="399592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&amp; Wellness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8732520" y="4023360"/>
            <a:ext cx="237744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64748B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224528" y="4416552"/>
            <a:ext cx="4828032" cy="18288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224528" y="4526280"/>
            <a:ext cx="292608" cy="292608"/>
          </a:xfrm>
          <a:prstGeom prst="rect">
            <a:avLst/>
          </a:prstGeom>
          <a:solidFill>
            <a:srgbClr val="5F5E5A"/>
          </a:solidFill>
          <a:ln w="12700">
            <a:solidFill>
              <a:srgbClr val="5F5E5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224528" y="45262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4590288" y="452628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 &amp; Events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8732520" y="4553712"/>
            <a:ext cx="237744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64748B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SchoolOS — Parent Super App (Expanded)</dc:title>
  <dc:subject>PptxGenJS Presentation</dc:subject>
  <dc:creator>PptxGenJS</dc:creator>
  <cp:lastModifiedBy>PptxGenJS</cp:lastModifiedBy>
  <cp:revision>1</cp:revision>
  <dcterms:created xsi:type="dcterms:W3CDTF">2026-04-10T01:42:21Z</dcterms:created>
  <dcterms:modified xsi:type="dcterms:W3CDTF">2026-04-10T01:42:21Z</dcterms:modified>
</cp:coreProperties>
</file>